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8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C9A96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LINE導線設計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1097280" y="3749040"/>
            <a:ext cx="182880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Setsuna Train2  —  Instagram Reels → LINE → STORES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4480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「最後の謎、LINEで渡すね」の、その先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2026.04.24  ·  一進VOYAGE号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設計の前提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0116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A"/>
                </a:solidFill>
              </a:rPr>
              <a:t>▶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動画CTA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「最後の謎、LINEで渡すね」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ブランド継承型。登録後の期待値が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『謎が届く』に設計されている。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73736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01168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A"/>
                </a:solidFill>
              </a:rPr>
              <a:t>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40664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N1インサイト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75120" y="27889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ゆき&amp;りな 25-30歳。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「自分で調べたくない」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「考えなくていい提案が欲しい」。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3434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A"/>
                </a:solidFill>
              </a:rPr>
              <a:t>◆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73736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商品・販路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謎解きキット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STORES販売 / 決済画面で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クーポンコード入力可。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4069080"/>
            <a:ext cx="5303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434340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3" name="Text 21"/>
          <p:cNvSpPr/>
          <p:nvPr/>
        </p:nvSpPr>
        <p:spPr>
          <a:xfrm>
            <a:off x="662940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96A"/>
                </a:solidFill>
              </a:rPr>
              <a:t>！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06640" y="4343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課題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51206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LINE登録後の『受け皿』が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ゼロから設計必要。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情報過多・離脱を回避する構造を組む。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参考例の学び：Black Sweets型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2057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96312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42232" y="2057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52544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世界観導入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(捜査官設定)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98464" y="2057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08776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08776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お試し謎1問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54696" y="2057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65008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正解体験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10928" y="205740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921240" y="2057400"/>
            <a:ext cx="1691640" cy="640080"/>
          </a:xfrm>
          <a:prstGeom prst="roundRect">
            <a:avLst>
              <a:gd name="adj" fmla="val 11429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057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販売ページ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200400"/>
            <a:ext cx="53949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 良い点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36576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世界観没入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登録直後から『捜査官』の役を与える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正解体験で没入感UP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自分が『解けた』瞬間に購買意欲が跳ねる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リッチメッセージで販売ページへ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視覚的に強く、離脱防止になる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3200400"/>
            <a:ext cx="53949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△ 気になる点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6576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イベント詳細が不明のまま販売ページに飛ぶ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クーポンをどこで表示するか悩ましい</a:t>
            </a:r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情報を盛りすぎて過多になるリスク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クーポン文字列入力が面倒な挙動になる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設計 7案マップ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109728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世界観没入型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084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Sweets 準拠。捜査官ロール→お試し謎→販売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39496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37360"/>
            <a:ext cx="109728" cy="64008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7804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「最後の謎」連動型  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084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動画CTAと直結。登録→即謎→正解→販売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496312"/>
            <a:ext cx="5394960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496312"/>
            <a:ext cx="109728" cy="64008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496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54480" y="2542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旅のしおり配布型  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843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PDFで即価値提供。N1「考えなくていい」直撃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496312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2496312"/>
            <a:ext cx="109728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24963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254203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ステップ配信温め型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284378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4日かけて世界観→体験→観光→販売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255264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255264"/>
            <a:ext cx="109728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2552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554480" y="33009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リッチメニュー直送型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6027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登録後すぐ4択メニュー。ユーザー主導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3255264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255264"/>
            <a:ext cx="109728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25526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178040" y="330098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タイプ診断分岐型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36027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ゆき派?りな派? 診断でパーソナライズ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014216"/>
            <a:ext cx="5394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014216"/>
            <a:ext cx="109728" cy="6400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0142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54480" y="405993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ゲーミフィケーション型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54480" y="43616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複数謎を解くとクーポン解錠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9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本日の推奨候補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世界観没入型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2616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1216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ようこそ相棒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お試し謎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04888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33488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64624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販売ページ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世界観体験が濃い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ブランド感◎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捜査官ロールで関係性構築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動画CTA『最後の謎』との連動感が薄い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即購入までの距離やや遠い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推定CVR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動画連動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△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「最後の謎」連動型  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動画『謎渡す』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2616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1216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即・謎到着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04888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33488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64624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販売+クーポン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動画CTAと完全連動◎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期待値→回収がスムーズ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実装コストが低い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世界観一貫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お試し謎の難度設計が鍵（難しすぎ＝離脱）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推定CVR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動画連動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◎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旅のしおり配布型  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2616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1216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しおりPDF配信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旅の全貌把握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04888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33488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『キット必須』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64624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販売+クーポン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N1『考えなくていい』直撃◎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しおりは友達に転送される＝バイラル装置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登録解除されにくい（実用価値）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PDF制作コストが中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世界観演出は弱め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推定CVR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動画連動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ステップ配信温め型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42616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1216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62656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Day1 世界観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73752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02352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Day2 謎体験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04888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33488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24928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 伊東観光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36024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64624" y="2011680"/>
            <a:ext cx="2048256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011680"/>
            <a:ext cx="18653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Day4 販売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温度高い状態で購入してもらえる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離脱しきらない層には強い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弱み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5508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即購入衝動を逃す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4日待てない熱量なら途中離脱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配信設計の工数が大きい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38912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推定CVR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中〜高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813816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2104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動画連動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△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リッチメニュー直送型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35680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335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30040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58640" y="2011680"/>
            <a:ext cx="3535680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0080" y="2011680"/>
            <a:ext cx="335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リッチメニュー表示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48600" y="201168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96A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77200" y="2011680"/>
            <a:ext cx="3535680" cy="777240"/>
          </a:xfrm>
          <a:prstGeom prst="roundRect">
            <a:avLst>
              <a:gd name="adj" fmla="val 11765"/>
            </a:avLst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8640" y="2011680"/>
            <a:ext cx="335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①購入 ②謎 ③しおり ④FAQ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強み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シンプル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情報過多を回避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ユーザー主導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▶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実装が軽い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200400"/>
            <a:ext cx="539496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3D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D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5080" y="3611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能動的ユーザーしか動かない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○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動画CTAとの連動感なし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実装コスト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38912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推定CVR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38160" y="5303520"/>
            <a:ext cx="3566160" cy="1005840"/>
          </a:xfrm>
          <a:prstGeom prst="roundRect">
            <a:avLst>
              <a:gd name="adj" fmla="val 9091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5394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動画連動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56692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△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案 06 &amp;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残り2案（参考枠）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37360"/>
            <a:ext cx="5394960" cy="5486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タイプ診断分岐型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登録→『ゆき派?りな派?』診断→タイプ別メッセージ→販売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パーソナライズ感 / SNS拡散性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6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制作コスト高 / 動画連動弱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コスト：高   ／   CVR：中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94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737360"/>
            <a:ext cx="5394960" cy="54864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ゲーミフィケーション型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42316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フロー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登録→捜査官バッジ→複数謎→全問正解でクーポン解錠→販売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参加感最強 / 滞在時間長い / 世界観◎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6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弱み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購入まで時間かかる / 制作コスト大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コスト：高   ／   CVR：中〜高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評価マトリクス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463040"/>
                <a:gridCol w="146304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動画連動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世界観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N1充足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実装コスト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CVR期待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総合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世界観没入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最後の謎連動★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 しおり配布★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2D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 ステップ配信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中〜高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 リッチメニュー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 タイプ診断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 ゲーミフィ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中〜高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C18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E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760720"/>
            <a:ext cx="10972800" cy="685800"/>
          </a:xfrm>
          <a:prstGeom prst="roundRect">
            <a:avLst>
              <a:gd name="adj" fmla="val 13333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7607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結論：案02「最後の謎連動」 ＋ 案03「しおり配布」 ＋ 案05「リッチメニュー」 のハイブリッドが最強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推奨：ハイブリッド導線（02 ＋ 03 ＋ 05）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0136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動画60秒 / ラスト『最後の謎、LINEで渡すね』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0574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広告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350008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A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46888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7860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78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1460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KAGENAZO公式 / リッチメニュー同時表示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127248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A"/>
                </a:solidFill>
              </a:rPr>
              <a:t>▼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324612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5584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9184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【即配信 ①】『お待ちしてました、相棒。まずは1問』＋ お試し謎画像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ユーザー回答 → 自動応答で正解判定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904488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A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023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3308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33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06908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【即配信 ②】『ゆき&amp;りな風・謎解き旅のしおりPDF』配布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3891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タイムテーブル / スイーツMAP / 特急予約リンク / 予算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681728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A"/>
                </a:solidFill>
              </a:rPr>
              <a:t>▼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" y="480060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91032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910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5840" y="484632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【即配信 ③】LINE限定クーポンコード ＋ STORES販売ページ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51663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コード単独メッセージでタップコピー可 / 期限明示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5458968"/>
            <a:ext cx="4572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96A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" y="557784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5687568"/>
            <a:ext cx="457200" cy="457200"/>
          </a:xfrm>
          <a:prstGeom prst="ellipse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5840" y="5623560"/>
            <a:ext cx="10149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リッチメニュー常設：①キット購入 ②しおり再取得 ③FAQ ④予約サポート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59436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5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迷子対策・再訪時の動線を常に確保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クーポン運用設計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ECE2D0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参考例の課題：クーポン表示タイミングが悩ましい / STORESでは文字列入力で面倒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5303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743200"/>
            <a:ext cx="91440" cy="164592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コード最上部・太字・単独メッセージ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メッセージ1通に『クーポンコード』のみを送る。長押しタップでコピーできる形式。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5303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743200"/>
            <a:ext cx="91440" cy="164592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880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23760" y="29260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有効期限を明示して緊急性を演出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47472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『登録から7日間限定』のように有効期限を明言。嘘の緊急性はNG・実運用と一致させる。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5303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526280"/>
            <a:ext cx="91440" cy="164592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4709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リッチメニューから再取得可能に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コード紛失対策。ユーザー側の『もう一度見たい』に応える。離脱を減らす。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526280"/>
            <a:ext cx="5303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4526280"/>
            <a:ext cx="91440" cy="1645920"/>
          </a:xfrm>
          <a:prstGeom prst="rect">
            <a:avLst/>
          </a:prstGeom>
          <a:solidFill>
            <a:srgbClr val="C9A96A"/>
          </a:solidFill>
          <a:ln w="12700">
            <a:solidFill>
              <a:srgbClr val="C9A9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663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4709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割引率は認知フェーズ基準で設計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5257800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推奨5〜10%。値引き訴求を強くしすぎるとブランドが安く見える。あくまで背中押し。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18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KPI・検証設計 ＆ 次アクション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7280" cy="0"/>
          </a:xfrm>
          <a:prstGeom prst="line">
            <a:avLst/>
          </a:prstGeom>
          <a:noFill/>
          <a:ln w="38100">
            <a:solidFill>
              <a:srgbClr val="C9A9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/ 測定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計測ファネル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動画CTR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LINE登録率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お試し謎の正解率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しおりPDF開封率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STORES遷移率</a:t>
            </a:r>
            <a:endParaRPr lang="en-US" sz="1200" dirty="0"/>
          </a:p>
          <a:p>
            <a:pPr marL="342900" indent="-342900"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クーポン使用率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最終CVR（キット購入）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測定手段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UTMパラメータで動画→LINE→STORESを一気通貫で追う</a:t>
            </a:r>
            <a:endParaRPr lang="en-US" sz="1200" dirty="0"/>
          </a:p>
          <a:p>
            <a:pPr marL="342900" indent="-342900">
              <a:buSzPct val="100000"/>
              <a:buChar char="●"/>
            </a:pPr>
            <a:r>
              <a:rPr lang="en-US" sz="115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LINE登録者 vs 非登録者のCVR比較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949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2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539496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6916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次アクション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246888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2316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クライアント合意（02＋03＋05ハイブリッドでGOか）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944368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89864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お試し謎コンテンツ制作（1問／正解率高く設計）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419856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374136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しおりPDF企画・制作（ゆき&amp;りな世界観）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55080" y="3895344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849624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LINE管理画面で自動応答・シナリオ設定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4370832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325112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クーポンコード発行・有効期限の運営合意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4846320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4800600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リッチメニューデザイン制作（4区画）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5321808"/>
            <a:ext cx="228600" cy="22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5276088"/>
            <a:ext cx="4800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STORES商品ページ側の導線・表記確認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KAGENAZO LINE FLOW DESIGN  ·  Setsuna Train2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6019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2026-04-24T05:19:05Z</dcterms:created>
  <dcterms:modified xsi:type="dcterms:W3CDTF">2026-04-24T05:19:05Z</dcterms:modified>
</cp:coreProperties>
</file>